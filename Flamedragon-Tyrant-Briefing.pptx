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143000"/>
            <a:ext cx="4572" cy="691286"/>
          </a:xfrm>
          <a:prstGeom prst="line">
            <a:avLst/>
          </a:prstGeom>
          <a:noFill/>
          <a:ln w="12700">
            <a:solidFill>
              <a:srgbClr val="7A5E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2371954"/>
            <a:ext cx="4572" cy="691286"/>
          </a:xfrm>
          <a:prstGeom prst="line">
            <a:avLst/>
          </a:prstGeom>
          <a:noFill/>
          <a:ln w="12700">
            <a:solidFill>
              <a:srgbClr val="7A5E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97480" y="2103120"/>
            <a:ext cx="691286" cy="4572"/>
          </a:xfrm>
          <a:prstGeom prst="line">
            <a:avLst/>
          </a:prstGeom>
          <a:noFill/>
          <a:ln w="12700">
            <a:solidFill>
              <a:srgbClr val="7A5E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26434" y="2103120"/>
            <a:ext cx="691286" cy="4572"/>
          </a:xfrm>
          <a:prstGeom prst="line">
            <a:avLst/>
          </a:prstGeom>
          <a:noFill/>
          <a:ln w="12700">
            <a:solidFill>
              <a:srgbClr val="7A5E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65576" y="1911096"/>
            <a:ext cx="384048" cy="384048"/>
          </a:xfrm>
          <a:prstGeom prst="diamond">
            <a:avLst/>
          </a:prstGeom>
          <a:solidFill>
            <a:srgbClr val="D8AC54"/>
          </a:solidFill>
          <a:ln w="12700">
            <a:solidFill>
              <a:srgbClr val="E9CC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51987" y="1037387"/>
            <a:ext cx="211226" cy="211226"/>
          </a:xfrm>
          <a:prstGeom prst="diamond">
            <a:avLst/>
          </a:prstGeom>
          <a:solidFill>
            <a:srgbClr val="3FA8B3"/>
          </a:solidFill>
          <a:ln/>
        </p:spPr>
      </p:sp>
      <p:sp>
        <p:nvSpPr>
          <p:cNvPr id="8" name="Shape 6"/>
          <p:cNvSpPr/>
          <p:nvPr/>
        </p:nvSpPr>
        <p:spPr>
          <a:xfrm>
            <a:off x="3551987" y="2957627"/>
            <a:ext cx="211226" cy="211226"/>
          </a:xfrm>
          <a:prstGeom prst="diamond">
            <a:avLst/>
          </a:prstGeom>
          <a:solidFill>
            <a:srgbClr val="3FA8B3"/>
          </a:solidFill>
          <a:ln/>
        </p:spPr>
      </p:sp>
      <p:sp>
        <p:nvSpPr>
          <p:cNvPr id="9" name="Shape 7"/>
          <p:cNvSpPr/>
          <p:nvPr/>
        </p:nvSpPr>
        <p:spPr>
          <a:xfrm>
            <a:off x="2591867" y="1997507"/>
            <a:ext cx="211226" cy="211226"/>
          </a:xfrm>
          <a:prstGeom prst="diamond">
            <a:avLst/>
          </a:prstGeom>
          <a:solidFill>
            <a:srgbClr val="FF6A2A"/>
          </a:solidFill>
          <a:ln/>
        </p:spPr>
      </p:sp>
      <p:sp>
        <p:nvSpPr>
          <p:cNvPr id="10" name="Shape 8"/>
          <p:cNvSpPr/>
          <p:nvPr/>
        </p:nvSpPr>
        <p:spPr>
          <a:xfrm>
            <a:off x="4512107" y="1997507"/>
            <a:ext cx="211226" cy="211226"/>
          </a:xfrm>
          <a:prstGeom prst="diamond">
            <a:avLst/>
          </a:prstGeom>
          <a:solidFill>
            <a:srgbClr val="FF6A2A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KINGSHOT · CROSS-KINGDOM BATTLEFIELD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0" y="37947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FLAMEDRAGON</a:t>
            </a:r>
            <a:endParaRPr lang="en-US" sz="46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TYRANT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and Proposed Plan · Server 745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64465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6446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plan wins this event. Read this before Sunday and bring your own ideas.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S01 / 34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players. 6 hours. One throne.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3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event is won by coordination, not by raw power.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3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is one proposed plan for our server.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3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alliance decides its own teams and its own approach.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3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what works. Change what does not.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5120640"/>
            <a:ext cx="2042160" cy="1371600"/>
          </a:xfrm>
          <a:prstGeom prst="roundRect">
            <a:avLst>
              <a:gd name="adj" fmla="val 6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5257800"/>
            <a:ext cx="204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A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5989320"/>
            <a:ext cx="204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6520" y="5120640"/>
            <a:ext cx="2042160" cy="1371600"/>
          </a:xfrm>
          <a:prstGeom prst="roundRect">
            <a:avLst>
              <a:gd name="adj" fmla="val 6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6520" y="5257800"/>
            <a:ext cx="204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A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36520" y="5989320"/>
            <a:ext cx="204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61560" y="5120640"/>
            <a:ext cx="2042160" cy="1371600"/>
          </a:xfrm>
          <a:prstGeom prst="roundRect">
            <a:avLst>
              <a:gd name="adj" fmla="val 6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1560" y="5257800"/>
            <a:ext cx="204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A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61560" y="5989320"/>
            <a:ext cx="204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/ 34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guide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58568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66544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battlefield, the buffs, the timing.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898648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191256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99232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3009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decides who wins.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831336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4123944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31920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GETS 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2336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be in the rallies, and the other jobs.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764024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5056632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864608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663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and where. Crystal skills.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696712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5989320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797296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60990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Troop type, formation, when to tap join.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6629400"/>
            <a:ext cx="6492240" cy="841248"/>
          </a:xfrm>
          <a:prstGeom prst="roundRect">
            <a:avLst>
              <a:gd name="adj" fmla="val 9783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6922008"/>
            <a:ext cx="256032" cy="256032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6729984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70317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clock, hour by hour, and what to change.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/ 34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trying to win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50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who holds the Palace the longest becomes the Flamedragon Tyrant for 30 days.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can also give 4 titles to other players.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1148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TITLE GIVES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448056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0705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572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4846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03120" y="448056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0705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4572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03120" y="4846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94760" y="448056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0705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572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94760" y="4846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0" y="448056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0705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572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846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S04 / 34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1 — the battlefield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6492240" cy="6611112"/>
          </a:xfrm>
          <a:prstGeom prst="roundRect">
            <a:avLst>
              <a:gd name="adj" fmla="val 845"/>
            </a:avLst>
          </a:prstGeom>
          <a:solidFill>
            <a:srgbClr val="EFE6D0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5486400" cy="5486400"/>
          </a:xfrm>
          <a:prstGeom prst="rect">
            <a:avLst/>
          </a:prstGeom>
          <a:ln w="13970">
            <a:solidFill>
              <a:srgbClr val="9C825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08760" y="2468880"/>
            <a:ext cx="4297680" cy="4297680"/>
          </a:xfrm>
          <a:prstGeom prst="rect">
            <a:avLst/>
          </a:prstGeom>
          <a:ln w="13970">
            <a:solidFill>
              <a:srgbClr val="9C82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3749040"/>
            <a:ext cx="1737360" cy="1737360"/>
          </a:xfrm>
          <a:prstGeom prst="ellipse">
            <a:avLst/>
          </a:prstGeom>
          <a:ln w="13970">
            <a:solidFill>
              <a:srgbClr val="9C825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87552" y="1929384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REGION — SHIELDS WORK · CITIES SPAWN AT RANDOM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581912" y="256032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MAGMA SANCTUM — NO SHIELDS, SHIELD REMOVED ON ENTRY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093976" y="514807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LAVA SHELTER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399032" y="2295144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4" name="Shape 12"/>
          <p:cNvSpPr/>
          <p:nvPr/>
        </p:nvSpPr>
        <p:spPr>
          <a:xfrm>
            <a:off x="3182112" y="217627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203911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3912" y="272491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391363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52744" y="565099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19" name="Shape 17"/>
          <p:cNvSpPr/>
          <p:nvPr/>
        </p:nvSpPr>
        <p:spPr>
          <a:xfrm>
            <a:off x="4690872" y="7141464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27832" y="7196328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1640" y="706831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" y="3547872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" y="6665976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4812" y="2144268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9372" y="2253996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26" name="Text 24"/>
          <p:cNvSpPr/>
          <p:nvPr/>
        </p:nvSpPr>
        <p:spPr>
          <a:xfrm>
            <a:off x="4325112" y="2258568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LV.2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5673852" y="2308860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28" name="Shape 26"/>
          <p:cNvSpPr/>
          <p:nvPr/>
        </p:nvSpPr>
        <p:spPr>
          <a:xfrm>
            <a:off x="1741932" y="686257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29" name="Text 27"/>
          <p:cNvSpPr/>
          <p:nvPr/>
        </p:nvSpPr>
        <p:spPr>
          <a:xfrm>
            <a:off x="1947672" y="6867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LV.2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3845052" y="6990588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1" name="Text 29"/>
          <p:cNvSpPr/>
          <p:nvPr/>
        </p:nvSpPr>
        <p:spPr>
          <a:xfrm>
            <a:off x="4050792" y="6995160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LV.2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5399532" y="6899148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39012" y="320497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7572" y="503377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5" name="Shape 33"/>
          <p:cNvSpPr/>
          <p:nvPr/>
        </p:nvSpPr>
        <p:spPr>
          <a:xfrm>
            <a:off x="1284732" y="622249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6" name="Shape 34"/>
          <p:cNvSpPr/>
          <p:nvPr/>
        </p:nvSpPr>
        <p:spPr>
          <a:xfrm>
            <a:off x="5902452" y="302209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7" name="Shape 35"/>
          <p:cNvSpPr/>
          <p:nvPr/>
        </p:nvSpPr>
        <p:spPr>
          <a:xfrm>
            <a:off x="6039612" y="494233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8" name="Shape 36"/>
          <p:cNvSpPr/>
          <p:nvPr/>
        </p:nvSpPr>
        <p:spPr>
          <a:xfrm>
            <a:off x="5966460" y="6085332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39" name="Shape 37"/>
          <p:cNvSpPr/>
          <p:nvPr/>
        </p:nvSpPr>
        <p:spPr>
          <a:xfrm>
            <a:off x="2290572" y="3040380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40" name="Text 38"/>
          <p:cNvSpPr/>
          <p:nvPr/>
        </p:nvSpPr>
        <p:spPr>
          <a:xfrm>
            <a:off x="2496312" y="3044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B07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LV.2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850892" y="5783580"/>
            <a:ext cx="173736" cy="152888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42" name="Shape 40"/>
          <p:cNvSpPr/>
          <p:nvPr/>
        </p:nvSpPr>
        <p:spPr>
          <a:xfrm rot="5400000">
            <a:off x="2569464" y="2221992"/>
            <a:ext cx="164592" cy="164592"/>
          </a:xfrm>
          <a:prstGeom prst="triangle">
            <a:avLst/>
          </a:prstGeom>
          <a:solidFill>
            <a:srgbClr val="A8701C"/>
          </a:solidFill>
          <a:ln/>
        </p:spPr>
      </p:sp>
      <p:sp>
        <p:nvSpPr>
          <p:cNvPr id="43" name="Shape 41"/>
          <p:cNvSpPr/>
          <p:nvPr/>
        </p:nvSpPr>
        <p:spPr>
          <a:xfrm>
            <a:off x="2752344" y="2304288"/>
            <a:ext cx="265176" cy="4572"/>
          </a:xfrm>
          <a:prstGeom prst="line">
            <a:avLst/>
          </a:prstGeom>
          <a:noFill/>
          <a:ln w="12700">
            <a:solidFill>
              <a:srgbClr val="A8701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rot="10800000">
            <a:off x="5998464" y="4416552"/>
            <a:ext cx="164592" cy="164592"/>
          </a:xfrm>
          <a:prstGeom prst="triangle">
            <a:avLst/>
          </a:prstGeom>
          <a:solidFill>
            <a:srgbClr val="A8701C"/>
          </a:solidFill>
          <a:ln/>
        </p:spPr>
      </p:sp>
      <p:sp>
        <p:nvSpPr>
          <p:cNvPr id="45" name="Shape 43"/>
          <p:cNvSpPr/>
          <p:nvPr/>
        </p:nvSpPr>
        <p:spPr>
          <a:xfrm>
            <a:off x="6080760" y="4599432"/>
            <a:ext cx="4572" cy="265176"/>
          </a:xfrm>
          <a:prstGeom prst="line">
            <a:avLst/>
          </a:prstGeom>
          <a:noFill/>
          <a:ln w="12700">
            <a:solidFill>
              <a:srgbClr val="A8701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rot="16200000">
            <a:off x="3483864" y="6885432"/>
            <a:ext cx="164592" cy="164592"/>
          </a:xfrm>
          <a:prstGeom prst="triangle">
            <a:avLst/>
          </a:prstGeom>
          <a:solidFill>
            <a:srgbClr val="A8701C"/>
          </a:solidFill>
          <a:ln/>
        </p:spPr>
      </p:sp>
      <p:sp>
        <p:nvSpPr>
          <p:cNvPr id="47" name="Shape 45"/>
          <p:cNvSpPr/>
          <p:nvPr/>
        </p:nvSpPr>
        <p:spPr>
          <a:xfrm flipH="1">
            <a:off x="3200400" y="6967728"/>
            <a:ext cx="265176" cy="4572"/>
          </a:xfrm>
          <a:prstGeom prst="line">
            <a:avLst/>
          </a:prstGeom>
          <a:noFill/>
          <a:ln w="12700">
            <a:solidFill>
              <a:srgbClr val="A8701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124712" y="4398264"/>
            <a:ext cx="164592" cy="164592"/>
          </a:xfrm>
          <a:prstGeom prst="triangle">
            <a:avLst/>
          </a:prstGeom>
          <a:solidFill>
            <a:srgbClr val="A8701C"/>
          </a:solidFill>
          <a:ln/>
        </p:spPr>
      </p:sp>
      <p:sp>
        <p:nvSpPr>
          <p:cNvPr id="49" name="Shape 47"/>
          <p:cNvSpPr/>
          <p:nvPr/>
        </p:nvSpPr>
        <p:spPr>
          <a:xfrm flipV="1">
            <a:off x="1207008" y="4114800"/>
            <a:ext cx="4572" cy="265176"/>
          </a:xfrm>
          <a:prstGeom prst="line">
            <a:avLst/>
          </a:prstGeom>
          <a:noFill/>
          <a:ln w="12700">
            <a:solidFill>
              <a:srgbClr val="A8701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054096" y="2834640"/>
            <a:ext cx="1207008" cy="548640"/>
          </a:xfrm>
          <a:prstGeom prst="rect">
            <a:avLst/>
          </a:prstGeom>
          <a:solidFill>
            <a:srgbClr val="9C9384"/>
          </a:solidFill>
          <a:ln w="12700">
            <a:solidFill>
              <a:srgbClr val="7E76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54096" y="2875788"/>
            <a:ext cx="12070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054096" y="303123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DEF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054096" y="317754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DEA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CONTESTED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3054096" y="5852160"/>
            <a:ext cx="1207008" cy="548640"/>
          </a:xfrm>
          <a:prstGeom prst="rect">
            <a:avLst/>
          </a:prstGeom>
          <a:solidFill>
            <a:srgbClr val="2E8C99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54096" y="5893308"/>
            <a:ext cx="12070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054096" y="604875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HP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054096" y="619506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OUR TARGET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545336" y="4343400"/>
            <a:ext cx="1207008" cy="548640"/>
          </a:xfrm>
          <a:prstGeom prst="rect">
            <a:avLst/>
          </a:prstGeom>
          <a:solidFill>
            <a:srgbClr val="9C9384"/>
          </a:solidFill>
          <a:ln w="12700">
            <a:solidFill>
              <a:srgbClr val="7E76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45336" y="4384548"/>
            <a:ext cx="12070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BLADE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545336" y="453999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ATK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545336" y="468630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DEA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CONTESTED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4562856" y="4343400"/>
            <a:ext cx="1207008" cy="548640"/>
          </a:xfrm>
          <a:prstGeom prst="rect">
            <a:avLst/>
          </a:prstGeom>
          <a:solidFill>
            <a:srgbClr val="2E8C99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62856" y="4384548"/>
            <a:ext cx="12070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DRAGON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562856" y="453999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LTH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562856" y="468630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OUR TARGET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3328416" y="4288536"/>
            <a:ext cx="658368" cy="658368"/>
          </a:xfrm>
          <a:prstGeom prst="diamond">
            <a:avLst/>
          </a:prstGeom>
          <a:solidFill>
            <a:srgbClr val="C4331A"/>
          </a:solidFill>
          <a:ln w="15240">
            <a:solidFill>
              <a:srgbClr val="7E1E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54096" y="4517136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PALACE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4360" y="7479792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Mines appear 15 min after the Palace opens, then every 30 min.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94360" y="7790688"/>
            <a:ext cx="6126480" cy="4572"/>
          </a:xfrm>
          <a:prstGeom prst="line">
            <a:avLst/>
          </a:prstGeom>
          <a:noFill/>
          <a:ln w="9525">
            <a:solidFill>
              <a:srgbClr val="9C82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1792" y="7936992"/>
            <a:ext cx="146304" cy="146304"/>
          </a:xfrm>
          <a:prstGeom prst="diamond">
            <a:avLst/>
          </a:prstGeom>
          <a:solidFill>
            <a:srgbClr val="C4331A"/>
          </a:solidFill>
          <a:ln/>
        </p:spPr>
      </p:sp>
      <p:sp>
        <p:nvSpPr>
          <p:cNvPr id="71" name="Text 69"/>
          <p:cNvSpPr/>
          <p:nvPr/>
        </p:nvSpPr>
        <p:spPr>
          <a:xfrm>
            <a:off x="850392" y="79004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Palace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691640" y="7946136"/>
            <a:ext cx="164592" cy="118872"/>
          </a:xfrm>
          <a:prstGeom prst="rect">
            <a:avLst/>
          </a:prstGeom>
          <a:solidFill>
            <a:srgbClr val="2E8C99"/>
          </a:solidFill>
          <a:ln/>
        </p:spPr>
      </p:sp>
      <p:sp>
        <p:nvSpPr>
          <p:cNvPr id="73" name="Text 71"/>
          <p:cNvSpPr/>
          <p:nvPr/>
        </p:nvSpPr>
        <p:spPr>
          <a:xfrm>
            <a:off x="1911096" y="79004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Aerie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7772" y="7932420"/>
            <a:ext cx="155448" cy="136794"/>
          </a:xfrm>
          <a:prstGeom prst="hexagon">
            <a:avLst/>
          </a:prstGeom>
          <a:solidFill>
            <a:srgbClr val="B0741A"/>
          </a:solidFill>
          <a:ln/>
        </p:spPr>
      </p:sp>
      <p:sp>
        <p:nvSpPr>
          <p:cNvPr id="75" name="Text 73"/>
          <p:cNvSpPr/>
          <p:nvPr/>
        </p:nvSpPr>
        <p:spPr>
          <a:xfrm>
            <a:off x="2971800" y="79004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813048" y="7936992"/>
            <a:ext cx="137160" cy="137160"/>
          </a:xfrm>
          <a:prstGeom prst="triangle">
            <a:avLst/>
          </a:prstGeom>
          <a:solidFill>
            <a:srgbClr val="A8701C"/>
          </a:solidFill>
          <a:ln/>
        </p:spPr>
      </p:sp>
      <p:sp>
        <p:nvSpPr>
          <p:cNvPr id="77" name="Text 75"/>
          <p:cNvSpPr/>
          <p:nvPr/>
        </p:nvSpPr>
        <p:spPr>
          <a:xfrm>
            <a:off x="4032504" y="79004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Escort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82896" y="7946136"/>
            <a:ext cx="128016" cy="128016"/>
          </a:xfrm>
          <a:prstGeom prst="rect">
            <a:avLst/>
          </a:prstGeom>
          <a:solidFill>
            <a:srgbClr val="857C6C"/>
          </a:solidFill>
          <a:ln/>
        </p:spPr>
      </p:sp>
      <p:sp>
        <p:nvSpPr>
          <p:cNvPr id="79" name="Text 77"/>
          <p:cNvSpPr/>
          <p:nvPr/>
        </p:nvSpPr>
        <p:spPr>
          <a:xfrm>
            <a:off x="5093208" y="790041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934456" y="79004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our target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/ 34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2 — the centre, close up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6492240" cy="6611112"/>
          </a:xfrm>
          <a:prstGeom prst="roundRect">
            <a:avLst>
              <a:gd name="adj" fmla="val 845"/>
            </a:avLst>
          </a:prstGeom>
          <a:solidFill>
            <a:srgbClr val="EFE6D0"/>
          </a:solidFill>
          <a:ln w="12700">
            <a:solidFill>
              <a:srgbClr val="7A5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20240"/>
            <a:ext cx="5394960" cy="5394960"/>
          </a:xfrm>
          <a:prstGeom prst="rect">
            <a:avLst/>
          </a:prstGeom>
          <a:ln w="13970">
            <a:solidFill>
              <a:srgbClr val="9C82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697480"/>
            <a:ext cx="3840480" cy="3840480"/>
          </a:xfrm>
          <a:prstGeom prst="ellipse">
            <a:avLst/>
          </a:prstGeom>
          <a:ln w="13970">
            <a:solidFill>
              <a:srgbClr val="9C825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33272" y="2039112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MAGMA SANCTUM — NO SHIELDS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794760" y="3291840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LAVA SHELTER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7B4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TEAM 20 — SPREAD AROUND THE BORDER REGION →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26364" y="281178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" y="482346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" y="665226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1676" y="317754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1676" y="518922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551676" y="6835140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063240" y="6487668"/>
            <a:ext cx="1188720" cy="502920"/>
          </a:xfrm>
          <a:prstGeom prst="rect">
            <a:avLst/>
          </a:prstGeom>
          <a:solidFill>
            <a:srgbClr val="2E8C99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6528816"/>
            <a:ext cx="11887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63240" y="668426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HP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063240" y="6830568"/>
            <a:ext cx="1188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OUR TARGET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5093208" y="4366260"/>
            <a:ext cx="1188720" cy="502920"/>
          </a:xfrm>
          <a:prstGeom prst="rect">
            <a:avLst/>
          </a:prstGeom>
          <a:solidFill>
            <a:srgbClr val="2E8C99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4407408"/>
            <a:ext cx="11887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93208" y="4562856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+50% LTH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93208" y="4709160"/>
            <a:ext cx="1188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OUR TARGET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291840" y="4251960"/>
            <a:ext cx="731520" cy="731520"/>
          </a:xfrm>
          <a:prstGeom prst="diamond">
            <a:avLst/>
          </a:prstGeom>
          <a:solidFill>
            <a:srgbClr val="C4331A"/>
          </a:solidFill>
          <a:ln w="15240">
            <a:solidFill>
              <a:srgbClr val="7E1E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4526280"/>
            <a:ext cx="182880" cy="182880"/>
          </a:xfrm>
          <a:prstGeom prst="ellipse">
            <a:avLst/>
          </a:prstGeom>
          <a:solidFill>
            <a:srgbClr val="B886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40416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487168" y="45171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PALACE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62606" y="587044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5194" y="587044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27782" y="587044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3" name="Shape 31"/>
          <p:cNvSpPr/>
          <p:nvPr/>
        </p:nvSpPr>
        <p:spPr>
          <a:xfrm>
            <a:off x="2960370" y="587044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4" name="Shape 32"/>
          <p:cNvSpPr/>
          <p:nvPr/>
        </p:nvSpPr>
        <p:spPr>
          <a:xfrm>
            <a:off x="3092958" y="587044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5" name="Shape 33"/>
          <p:cNvSpPr/>
          <p:nvPr/>
        </p:nvSpPr>
        <p:spPr>
          <a:xfrm>
            <a:off x="2562606" y="600303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5194" y="600303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7" name="Shape 35"/>
          <p:cNvSpPr/>
          <p:nvPr/>
        </p:nvSpPr>
        <p:spPr>
          <a:xfrm>
            <a:off x="2827782" y="600303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8" name="Shape 36"/>
          <p:cNvSpPr/>
          <p:nvPr/>
        </p:nvSpPr>
        <p:spPr>
          <a:xfrm>
            <a:off x="2960370" y="600303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39" name="Shape 37"/>
          <p:cNvSpPr/>
          <p:nvPr/>
        </p:nvSpPr>
        <p:spPr>
          <a:xfrm>
            <a:off x="3092958" y="600303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0" name="Shape 38"/>
          <p:cNvSpPr/>
          <p:nvPr/>
        </p:nvSpPr>
        <p:spPr>
          <a:xfrm flipH="1">
            <a:off x="2487168" y="5989320"/>
            <a:ext cx="73152" cy="4572"/>
          </a:xfrm>
          <a:prstGeom prst="line">
            <a:avLst/>
          </a:prstGeom>
          <a:noFill/>
          <a:ln w="9525">
            <a:solidFill>
              <a:srgbClr val="6B5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36192" y="5907024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TURRET 10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757166" y="395020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3" name="Shape 41"/>
          <p:cNvSpPr/>
          <p:nvPr/>
        </p:nvSpPr>
        <p:spPr>
          <a:xfrm>
            <a:off x="4889754" y="395020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2342" y="395020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5" name="Shape 43"/>
          <p:cNvSpPr/>
          <p:nvPr/>
        </p:nvSpPr>
        <p:spPr>
          <a:xfrm>
            <a:off x="5154930" y="395020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6" name="Shape 44"/>
          <p:cNvSpPr/>
          <p:nvPr/>
        </p:nvSpPr>
        <p:spPr>
          <a:xfrm>
            <a:off x="5287518" y="3950208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7166" y="408279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8" name="Shape 46"/>
          <p:cNvSpPr/>
          <p:nvPr/>
        </p:nvSpPr>
        <p:spPr>
          <a:xfrm>
            <a:off x="4889754" y="408279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49" name="Shape 47"/>
          <p:cNvSpPr/>
          <p:nvPr/>
        </p:nvSpPr>
        <p:spPr>
          <a:xfrm>
            <a:off x="5022342" y="408279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50" name="Shape 48"/>
          <p:cNvSpPr/>
          <p:nvPr/>
        </p:nvSpPr>
        <p:spPr>
          <a:xfrm>
            <a:off x="5154930" y="408279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51" name="Shape 49"/>
          <p:cNvSpPr/>
          <p:nvPr/>
        </p:nvSpPr>
        <p:spPr>
          <a:xfrm>
            <a:off x="5287518" y="4082796"/>
            <a:ext cx="105156" cy="105156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4960" y="4069080"/>
            <a:ext cx="73152" cy="4572"/>
          </a:xfrm>
          <a:prstGeom prst="line">
            <a:avLst/>
          </a:prstGeom>
          <a:noFill/>
          <a:ln w="9525">
            <a:solidFill>
              <a:srgbClr val="6B5A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04688" y="398678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LTH TURRET 10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391406" y="5509260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55" name="Shape 53"/>
          <p:cNvSpPr/>
          <p:nvPr/>
        </p:nvSpPr>
        <p:spPr>
          <a:xfrm>
            <a:off x="4523994" y="5509260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56" name="Shape 54"/>
          <p:cNvSpPr/>
          <p:nvPr/>
        </p:nvSpPr>
        <p:spPr>
          <a:xfrm>
            <a:off x="4656582" y="5509260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57" name="Shape 55"/>
          <p:cNvSpPr/>
          <p:nvPr/>
        </p:nvSpPr>
        <p:spPr>
          <a:xfrm>
            <a:off x="4789170" y="5509260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58" name="Shape 56"/>
          <p:cNvSpPr/>
          <p:nvPr/>
        </p:nvSpPr>
        <p:spPr>
          <a:xfrm>
            <a:off x="4921758" y="5509260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59" name="Shape 57"/>
          <p:cNvSpPr/>
          <p:nvPr/>
        </p:nvSpPr>
        <p:spPr>
          <a:xfrm>
            <a:off x="4391406" y="5641848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0" name="Shape 58"/>
          <p:cNvSpPr/>
          <p:nvPr/>
        </p:nvSpPr>
        <p:spPr>
          <a:xfrm>
            <a:off x="4523994" y="5641848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1" name="Shape 59"/>
          <p:cNvSpPr/>
          <p:nvPr/>
        </p:nvSpPr>
        <p:spPr>
          <a:xfrm>
            <a:off x="4656582" y="5641848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2" name="Shape 60"/>
          <p:cNvSpPr/>
          <p:nvPr/>
        </p:nvSpPr>
        <p:spPr>
          <a:xfrm>
            <a:off x="4789170" y="5641848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3" name="Shape 61"/>
          <p:cNvSpPr/>
          <p:nvPr/>
        </p:nvSpPr>
        <p:spPr>
          <a:xfrm>
            <a:off x="4921758" y="5641848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4" name="Shape 62"/>
          <p:cNvSpPr/>
          <p:nvPr/>
        </p:nvSpPr>
        <p:spPr>
          <a:xfrm>
            <a:off x="4391406" y="5774436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5" name="Shape 63"/>
          <p:cNvSpPr/>
          <p:nvPr/>
        </p:nvSpPr>
        <p:spPr>
          <a:xfrm>
            <a:off x="4523994" y="5774436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6" name="Shape 64"/>
          <p:cNvSpPr/>
          <p:nvPr/>
        </p:nvSpPr>
        <p:spPr>
          <a:xfrm>
            <a:off x="4656582" y="5774436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7" name="Shape 65"/>
          <p:cNvSpPr/>
          <p:nvPr/>
        </p:nvSpPr>
        <p:spPr>
          <a:xfrm>
            <a:off x="4789170" y="5774436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8" name="Shape 66"/>
          <p:cNvSpPr/>
          <p:nvPr/>
        </p:nvSpPr>
        <p:spPr>
          <a:xfrm>
            <a:off x="4921758" y="5774436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69" name="Shape 67"/>
          <p:cNvSpPr/>
          <p:nvPr/>
        </p:nvSpPr>
        <p:spPr>
          <a:xfrm>
            <a:off x="4391406" y="5907024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70" name="Shape 68"/>
          <p:cNvSpPr/>
          <p:nvPr/>
        </p:nvSpPr>
        <p:spPr>
          <a:xfrm>
            <a:off x="4523994" y="5907024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71" name="Shape 69"/>
          <p:cNvSpPr/>
          <p:nvPr/>
        </p:nvSpPr>
        <p:spPr>
          <a:xfrm>
            <a:off x="4656582" y="5907024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72" name="Shape 70"/>
          <p:cNvSpPr/>
          <p:nvPr/>
        </p:nvSpPr>
        <p:spPr>
          <a:xfrm>
            <a:off x="4789170" y="5907024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73" name="Shape 71"/>
          <p:cNvSpPr/>
          <p:nvPr/>
        </p:nvSpPr>
        <p:spPr>
          <a:xfrm>
            <a:off x="4921758" y="5907024"/>
            <a:ext cx="105156" cy="105156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74" name="Shape 72"/>
          <p:cNvSpPr/>
          <p:nvPr/>
        </p:nvSpPr>
        <p:spPr>
          <a:xfrm>
            <a:off x="4956048" y="5961888"/>
            <a:ext cx="91440" cy="128016"/>
          </a:xfrm>
          <a:prstGeom prst="line">
            <a:avLst/>
          </a:prstGeom>
          <a:noFill/>
          <a:ln w="9525">
            <a:solidFill>
              <a:srgbClr val="6B5A3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65776" y="607161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C43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CASTLE TEAM 20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 flipV="1">
            <a:off x="3657600" y="5093208"/>
            <a:ext cx="4572" cy="1371600"/>
          </a:xfrm>
          <a:prstGeom prst="line">
            <a:avLst/>
          </a:prstGeom>
          <a:noFill/>
          <a:ln w="17780">
            <a:solidFill>
              <a:srgbClr val="1F6B75"/>
            </a:solidFill>
            <a:prstDash val="lgDash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2231136" y="6419088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 ROUND</a:t>
            </a:r>
            <a:endParaRPr lang="en-US" sz="6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 flipH="1">
            <a:off x="4133088" y="4617720"/>
            <a:ext cx="941832" cy="4572"/>
          </a:xfrm>
          <a:prstGeom prst="line">
            <a:avLst/>
          </a:prstGeom>
          <a:noFill/>
          <a:ln w="17780">
            <a:solidFill>
              <a:srgbClr val="1F6B75"/>
            </a:solidFill>
            <a:prstDash val="lgDash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4169664" y="4882896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 ROUND</a:t>
            </a:r>
            <a:endParaRPr lang="en-US" sz="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1F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 flipH="1" flipV="1">
            <a:off x="4041648" y="5093208"/>
            <a:ext cx="457200" cy="457200"/>
          </a:xfrm>
          <a:prstGeom prst="line">
            <a:avLst/>
          </a:prstGeom>
          <a:noFill/>
          <a:ln w="12700">
            <a:solidFill>
              <a:srgbClr val="C4331A"/>
            </a:solidFill>
            <a:prstDash val="dash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4535424" y="5248656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C43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RALLY 1 BREAKS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 flipH="1" flipV="1">
            <a:off x="3913632" y="5221224"/>
            <a:ext cx="457200" cy="457200"/>
          </a:xfrm>
          <a:prstGeom prst="line">
            <a:avLst/>
          </a:prstGeom>
          <a:noFill/>
          <a:ln w="30480">
            <a:solidFill>
              <a:srgbClr val="C4331A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2651760" y="544982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C43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RALLY 2 HOLDS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594360" y="7479792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40 combat players stay on the same side. When the towers lock, the march takes seconds.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94360" y="7790688"/>
            <a:ext cx="6126480" cy="4572"/>
          </a:xfrm>
          <a:prstGeom prst="line">
            <a:avLst/>
          </a:prstGeom>
          <a:noFill/>
          <a:ln w="9525">
            <a:solidFill>
              <a:srgbClr val="9C82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6364" y="7941564"/>
            <a:ext cx="137160" cy="137160"/>
          </a:xfrm>
          <a:prstGeom prst="ellipse">
            <a:avLst/>
          </a:prstGeom>
          <a:solidFill>
            <a:srgbClr val="C4331A"/>
          </a:solidFill>
          <a:ln/>
        </p:spPr>
      </p:sp>
      <p:sp>
        <p:nvSpPr>
          <p:cNvPr id="87" name="Text 85"/>
          <p:cNvSpPr/>
          <p:nvPr/>
        </p:nvSpPr>
        <p:spPr>
          <a:xfrm>
            <a:off x="832104" y="79004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Castle 20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860804" y="7941564"/>
            <a:ext cx="137160" cy="137160"/>
          </a:xfrm>
          <a:prstGeom prst="ellipse">
            <a:avLst/>
          </a:prstGeom>
          <a:solidFill>
            <a:srgbClr val="2E8C99"/>
          </a:solidFill>
          <a:ln/>
        </p:spPr>
      </p:sp>
      <p:sp>
        <p:nvSpPr>
          <p:cNvPr id="89" name="Text 87"/>
          <p:cNvSpPr/>
          <p:nvPr/>
        </p:nvSpPr>
        <p:spPr>
          <a:xfrm>
            <a:off x="2066544" y="79004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Turrets 10 each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095244" y="7941564"/>
            <a:ext cx="137160" cy="137160"/>
          </a:xfrm>
          <a:prstGeom prst="ellipse">
            <a:avLst/>
          </a:prstGeom>
          <a:solidFill>
            <a:srgbClr val="7B4FA6"/>
          </a:solidFill>
          <a:ln/>
        </p:spPr>
      </p:sp>
      <p:sp>
        <p:nvSpPr>
          <p:cNvPr id="91" name="Text 89"/>
          <p:cNvSpPr/>
          <p:nvPr/>
        </p:nvSpPr>
        <p:spPr>
          <a:xfrm>
            <a:off x="3300984" y="79004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20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329684" y="7941564"/>
            <a:ext cx="137160" cy="13716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3" name="Text 91"/>
          <p:cNvSpPr/>
          <p:nvPr/>
        </p:nvSpPr>
        <p:spPr>
          <a:xfrm>
            <a:off x="4535424" y="79004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568696" y="79004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5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dot = 1 player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/ 34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Aeries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86050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AERIE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GIVES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 Defense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 Health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 Attack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 Lethality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506349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06349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take Life (South) and Dragon (East).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S07 / 34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30/30 rhythm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Aerie is open for 30 minutes, then locked for 30 minutes.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" y="2560320"/>
            <a:ext cx="3172968" cy="1325880"/>
          </a:xfrm>
          <a:prstGeom prst="roundRect">
            <a:avLst>
              <a:gd name="adj" fmla="val 6207"/>
            </a:avLst>
          </a:prstGeom>
          <a:solidFill>
            <a:srgbClr val="291B11"/>
          </a:solidFill>
          <a:ln w="1524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706624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8AC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· 30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807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for the tower.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30752" y="2560320"/>
            <a:ext cx="3172968" cy="1325880"/>
          </a:xfrm>
          <a:prstGeom prst="roundRect">
            <a:avLst>
              <a:gd name="adj" fmla="val 6207"/>
            </a:avLst>
          </a:prstGeom>
          <a:solidFill>
            <a:srgbClr val="291B11"/>
          </a:solidFill>
          <a:ln w="1524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2706624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 · 30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13632" y="3063240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 is live. Hit the Palace now.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456432" y="3076956"/>
            <a:ext cx="402336" cy="292608"/>
          </a:xfrm>
          <a:prstGeom prst="rightArrow">
            <a:avLst/>
          </a:prstGeom>
          <a:solidFill>
            <a:srgbClr val="7A5E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4297680"/>
            <a:ext cx="6492240" cy="1417320"/>
          </a:xfrm>
          <a:prstGeom prst="roundRect">
            <a:avLst>
              <a:gd name="adj" fmla="val 5806"/>
            </a:avLst>
          </a:prstGeom>
          <a:solidFill>
            <a:srgbClr val="0B0705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4389120"/>
            <a:ext cx="5980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D8AC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 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 · 13:00 · 14:00 · 15:00 · 16:00 · 17:00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 · 13:30 · 14:30 · 15:30 · 16:30 · 17:30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" y="5230368"/>
            <a:ext cx="5980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rounds each. All times UTC.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594360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59436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most important timing in the event.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/ 34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Garrison Leader's time counts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28392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92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433572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Palace timer only counts for the Defence Garrison Leader.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in the Palace gets points and rewards. They get 0 seconds of Palace time.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one player must be the Garrison Leader, and stay there.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decide who will be the Tyrant before the battle.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S09 / 34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Aeries and one crystal officer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28392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92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433572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Aeries. Each one gives +50% of one stat to the whole alliance for 30 minutes.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responsible for Crystal Skills. Skills fired at the right moment are worth far more than skills fired when someone panics.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that person before the battle. One person, not three.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Buffs before bodies: attacking the Palace with no buff gives the enemy free kills.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 / 34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Buffs only work for us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295808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580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552444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Aerie buffs and crystal skills only reach our own alliance.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alliance holding a tower does not help us.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our own crystal pool.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S11 / 34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C4331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troops die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295808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C4331A"/>
          </a:solidFill>
          <a:ln w="9525">
            <a:solidFill>
              <a:srgbClr val="FF6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580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29580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0705"/>
          </a:solidFill>
          <a:ln w="9525">
            <a:solidFill>
              <a:srgbClr val="C43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9580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552444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and Aerie fights: troops are only injured. Nobody dies.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a player’s town: troops die. Permanently.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attack towns unless R4/R5 tells you to.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/ 34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C4331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 before you leave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28392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C4331A"/>
          </a:solidFill>
          <a:ln w="9525">
            <a:solidFill>
              <a:srgbClr val="FF6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92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28392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0705"/>
          </a:solidFill>
          <a:ln w="9525">
            <a:solidFill>
              <a:srgbClr val="C43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8392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433572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battlefield your infirmary is unlimited.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leave, it goes back to normal size. Everything above that size dies.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kills more troops than the enemy does.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000"/>
              </a:spcAft>
              <a:buSzPct val="100000"/>
              <a:buChar char="◆"/>
            </a:pPr>
            <a:r>
              <a:rPr lang="en-US" sz="14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 before 19:00. Set an alarm.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/ 34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GETS 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should be in the rallies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80035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0035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TG8 and T11 give us more survivability.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89763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rally is limited by the number of troops, not by their tier.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filled with T10 or lower wastes rally space.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94919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suggested minimum, not a server rule.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/ 34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GETS 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are below that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270891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3FA8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0891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still useful. There is more than one job.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85191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Team collects the crystals that pay for our skills.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help at an Aerie — tower fights need bodies, not only tiers.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crystals and those towers decide the last hour.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alliance decides its own teams. This is only an idea.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/ 34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players, 4 teams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40330"/>
          <a:ext cx="6492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66928"/>
                <a:gridCol w="530352"/>
                <a:gridCol w="530352"/>
                <a:gridCol w="530352"/>
                <a:gridCol w="264261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CAV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Castle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Turret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Aerie, South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Lethality Turret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 Aerie, 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Crystals · any troops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880610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TROOP COLOURS, USED ON EVERY TABLE FROM HERE 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06908" y="5186934"/>
            <a:ext cx="155448" cy="155448"/>
          </a:xfrm>
          <a:prstGeom prst="ellipse">
            <a:avLst/>
          </a:prstGeom>
          <a:solidFill>
            <a:srgbClr val="D8AC54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" y="513664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367028" y="5186934"/>
            <a:ext cx="155448" cy="155448"/>
          </a:xfrm>
          <a:prstGeom prst="ellipse">
            <a:avLst/>
          </a:prstGeom>
          <a:solidFill>
            <a:srgbClr val="FF6A2A"/>
          </a:solidFill>
          <a:ln/>
        </p:spPr>
      </p:sp>
      <p:sp>
        <p:nvSpPr>
          <p:cNvPr id="11" name="Text 8"/>
          <p:cNvSpPr/>
          <p:nvPr/>
        </p:nvSpPr>
        <p:spPr>
          <a:xfrm>
            <a:off x="1591056" y="513664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27148" y="5186934"/>
            <a:ext cx="155448" cy="155448"/>
          </a:xfrm>
          <a:prstGeom prst="ellipse">
            <a:avLst/>
          </a:prstGeom>
          <a:solidFill>
            <a:srgbClr val="3FA8B3"/>
          </a:solidFill>
          <a:ln/>
        </p:spPr>
      </p:sp>
      <p:sp>
        <p:nvSpPr>
          <p:cNvPr id="13" name="Text 10"/>
          <p:cNvSpPr/>
          <p:nvPr/>
        </p:nvSpPr>
        <p:spPr>
          <a:xfrm>
            <a:off x="2551176" y="513664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570357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Map 2 for where each team stands on the field.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/ 34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Castle Team · 20 · double rally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6492240" cy="685800"/>
          </a:xfrm>
          <a:prstGeom prst="roundRect">
            <a:avLst>
              <a:gd name="adj" fmla="val 12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players = 2 full rallies of 10, at the same time.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06040"/>
          <a:ext cx="6492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RALLY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RALLY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50/10/40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60/40/0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strong rally leader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Tyrant 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the enemy out or weaken him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in and 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52628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1 hits first. It does not need to win the tile — it needs to break or thin the defenders.</a:t>
            </a:r>
            <a:endParaRPr lang="en-US" sz="12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20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2 follows and takes the tile. Its leader becomes the Defence Garrison Leader, so his timer starts.</a:t>
            </a:r>
            <a:endParaRPr lang="en-US" sz="12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2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Rally 2 is the defensive one: it is going to sit there.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720840"/>
          <a:ext cx="6492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Rally 1 — attack 50/10/40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Rally 2 — defense 60/40/0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Castle Team 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S17 / 34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Turret Team · 10 · South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4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round: rally the Life Aerie (+50% Health).</a:t>
            </a:r>
            <a:endParaRPr lang="en-US" sz="1400" dirty="0"/>
          </a:p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40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tower fight ends, there are two ways to help. Gather crystals, or reinforce the Palace. Your R4/R5 says which — clearly, every round. Do not guess and do not split.</a:t>
            </a:r>
            <a:endParaRPr lang="en-US" sz="1400" dirty="0"/>
          </a:p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4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up the tower. If a stronger alliance commits to it, ask Castle Team to help take it. Winning the tower means the next 30 minutes are fought with the buff on our 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S18 / 34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Lethality Turret Team · 10 · East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264033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HP Turret, different tower: the Dragon Aerie (+50% Lethality).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" y="350901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50901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tower is good. Two towers is the goal.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1480" y="460629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4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tower fight ends: gather crystals or reinforce the Palace — R4/R5 calls it.</a:t>
            </a:r>
            <a:endParaRPr lang="en-US" sz="14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4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up the tower. Ask Castle Team for help instead.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S19 / 34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Team · 20 · spread around the 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2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spread around the Border Region, shields up. Not bunched in one place.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200"/>
              </a:spcAft>
              <a:buSzPct val="100000"/>
              <a:buChar char="◆"/>
            </a:pPr>
            <a:r>
              <a:rPr lang="en-US" sz="13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for a mine if you can win it. Every crystal counts, and crystals pay for every skill we fire.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2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Escorts are solo attacks. They cannot be rallied.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200"/>
              </a:spcAft>
              <a:buSzPct val="100000"/>
              <a:buChar char="◆"/>
            </a:pPr>
            <a:r>
              <a:rPr lang="en-US" sz="135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closer at 16:30 and stop farming at 17:15 — but only if we are sure we no longer need crystals. If skills are still being fired, keep farming.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S20 / 34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 Skills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6492240" cy="731520"/>
          </a:xfrm>
          <a:prstGeom prst="roundRect">
            <a:avLst>
              <a:gd name="adj" fmla="val 1125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R4/R5 spend Pyrocrystals on skills for the whole alliance. There are 8.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51760"/>
          <a:ext cx="6492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3474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SKILL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 · TIME · CD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IT DOES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Swiftwing Express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· 10m · CD 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 march speed — only for troops sent while it is active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Dragonborn Gathering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· 10m · CD 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 Pyrocrystal gathering speed. Buy this one first.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Firebreath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· 10m · CD 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Town defends much better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Dragonsoul Revival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· 10m · CD 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your losses from a town attack survive, injured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Dragonbreath Fury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 · 10m · CD 20m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beaten Town is thrown out to the Border Region for 10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Dragonblood Healing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 · 10m · CD 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your injured from Palace and Aerie fights are healed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Dragonscale Armor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· 30m · CD 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 Attack and Defense for Palace and Aerie defenders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Dragonroar Rally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· 30m · CD 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 rally capacity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8 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8 farmers can gather in six hours. Choose what you skip.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5806440"/>
            <a:ext cx="6492240" cy="1051560"/>
          </a:xfrm>
          <a:prstGeom prst="roundRect">
            <a:avLst>
              <a:gd name="adj" fmla="val 7826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580644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valuable one is march speed. Every second a rally spends travelling is a second the Palace timer is not running for us.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S21 / 34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TEAMS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no crystals at 12:00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503170"/>
            <a:ext cx="6492240" cy="914400"/>
          </a:xfrm>
          <a:prstGeom prst="roundRect">
            <a:avLst>
              <a:gd name="adj" fmla="val 9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0317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Pyrocrystal mines appear 15 minutes after the Palace opens, then every 30 minutes.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373761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first skill cannot be fired until roughly 12:30.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12:00 seize and the first tower round are fought with no crystal support at all.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has crystals either. The opening is decided by troops and heroes.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 of the day: Dragonborn Gathering, around 12:15. It is the only skill that pays for itself, and only if bought early.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S22 / 34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player, one troop type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77749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7749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Infantry, cavalry or archers. Never a mix.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gear, charms and research are all on one type.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march weakens all of them.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your type with your team leader before the battle.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S23 / 34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troops to send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Rally capacity ÷ 10 = your load.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1371600" cy="274320"/>
          </a:xfrm>
          <a:prstGeom prst="roundRect">
            <a:avLst>
              <a:gd name="adj" fmla="val 56667"/>
            </a:avLst>
          </a:prstGeom>
          <a:solidFill>
            <a:srgbClr val="0B0705"/>
          </a:solidFill>
          <a:ln w="9525">
            <a:solidFill>
              <a:srgbClr val="7A5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6492240" cy="914400"/>
          </a:xfrm>
          <a:prstGeom prst="roundRect">
            <a:avLst>
              <a:gd name="adj" fmla="val 9000"/>
            </a:avLst>
          </a:prstGeom>
          <a:solidFill>
            <a:srgbClr val="0B0705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474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1,800,000 ÷ 10 = </a:t>
            </a:r>
            <a:pPr indent="0" marL="0">
              <a:buNone/>
            </a:pPr>
            <a:r>
              <a:rPr lang="en-US" sz="1400" b="1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180,000 each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0B0705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69087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DRAGONROAR RALLY (+30%)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95604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2,340,000 ÷ 10 = </a:t>
            </a:r>
            <a:pPr indent="0" marL="0">
              <a:buNone/>
            </a:pPr>
            <a:r>
              <a:rPr lang="en-US" sz="1400" b="1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234,000 each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598932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R4/R5 calls the number. Match it — sending more can lock someone out of the rally.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S24 / 34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hero decides your slot — not your tap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2571750"/>
            <a:ext cx="6492240" cy="914400"/>
          </a:xfrm>
          <a:prstGeom prst="roundRect">
            <a:avLst>
              <a:gd name="adj" fmla="val 9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7175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rally takes the 4 highest-level Hero 1 first skills. Join order is only the tie-break.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380619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carriers must have their Hero 1 first skill maxed.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maxed, a filler with a maxed skill beats you — no matter who tapped first.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b="1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first skill is weak, send no hero in slot 1. Your troops still count in full.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3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fast is not the mechanic. It only settles ties between equal skill levels.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586359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0B0705"/>
          </a:solidFill>
          <a:ln w="9525">
            <a:solidFill>
              <a:srgbClr val="C43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586359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SKILL LEVELS, NOT TAP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S25 / 34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71750"/>
          <a:ext cx="6492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Chenko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72059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for attack and defense. Every rally, every time.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hero must be in your expedition team when you tap join.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first skill must be maxed, or a filler replaces you.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618363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6 setup. Adjust for your own heroes.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S26 / 34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tap join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77440"/>
          <a:ext cx="6492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J1–J4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 J5–J9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2 seconds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38912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2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rally fills in 3 to 4 seconds. Everyone marches together.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5166360"/>
            <a:ext cx="6492240" cy="1005840"/>
          </a:xfrm>
          <a:prstGeom prst="roundRect">
            <a:avLst>
              <a:gd name="adj" fmla="val 8182"/>
            </a:avLst>
          </a:prstGeom>
          <a:solidFill>
            <a:srgbClr val="291B11"/>
          </a:solidFill>
          <a:ln w="9525">
            <a:solidFill>
              <a:srgbClr val="7A5E3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1663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order is only the tie-break. The rally takes the 4 highest-level first skills; join time decides only when levels are equal.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S27 / 34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formations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68930"/>
          <a:ext cx="6492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PLAYERS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50/20/30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CAV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50/10/40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CAV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60/40/0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INF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CAV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S28 / 34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slots J6 to J9 change</a:t>
            </a:r>
            <a:endParaRPr lang="en-US" sz="2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65960"/>
          <a:ext cx="6492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50/20/30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50/10/40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60/40/0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C–J5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7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7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7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FA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7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8AC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CC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FA8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6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562356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623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10 players never change what they send.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S29 / 34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811530" cy="777240"/>
          </a:xfrm>
          <a:prstGeom prst="rect">
            <a:avLst/>
          </a:prstGeom>
          <a:solidFill>
            <a:srgbClr val="291B11"/>
          </a:solidFill>
          <a:ln w="15240">
            <a:solidFill>
              <a:srgbClr val="AFA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26080"/>
            <a:ext cx="8115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23010" y="2926080"/>
            <a:ext cx="4869180" cy="777240"/>
          </a:xfrm>
          <a:prstGeom prst="rect">
            <a:avLst/>
          </a:prstGeom>
          <a:solidFill>
            <a:srgbClr val="C4331A"/>
          </a:solidFill>
          <a:ln w="15240">
            <a:solidFill>
              <a:srgbClr val="FF6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3010" y="2926080"/>
            <a:ext cx="48691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6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2190" y="2926080"/>
            <a:ext cx="811530" cy="777240"/>
          </a:xfrm>
          <a:prstGeom prst="rect">
            <a:avLst/>
          </a:prstGeom>
          <a:solidFill>
            <a:srgbClr val="291B11"/>
          </a:solidFill>
          <a:ln w="15240">
            <a:solidFill>
              <a:srgbClr val="3FA8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2190" y="2926080"/>
            <a:ext cx="8115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F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-4572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581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3499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shown in UTC.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754880"/>
          <a:ext cx="6492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 (UTC)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9CC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1B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in position. No fighting.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12:00–18:00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battle.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18:00–19:00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E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Heal. No attacks.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A5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705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S30 / 34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 · the teleport scramble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273177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3177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tiles are gone in 60 seconds.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82905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online 15 minutes early. No scouting, no marching, no burning barricade.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3 target tiles ready, not 1. If tile 1 is taken, drop on tile 2.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is going for the Palace should drop first, in the South-East, one tight group.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S31 / 34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12:00 · the seize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80035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1 breaks the Old Guard.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b="1" dirty="0">
                <a:solidFill>
                  <a:srgbClr val="E9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2 lands and holds. Its leader becomes the Garrison Leader — the timer starts.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turret teams take their tower. This round has no buff yet.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holds a rally march speedup ready. There are no crystals yet.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S32 / 34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 to 17:00 · the loop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A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hour: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half hour → turret teams fight for towers.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half hour → turret teams come to the Palace. Buffs are live.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1 starts again every time the garrison breaks; Rally 2 retakes and holds.</a:t>
            </a:r>
            <a:endParaRPr lang="en-US" sz="1500" dirty="0"/>
          </a:p>
          <a:p>
            <a:pPr marL="254000" indent="-254000">
              <a:lnSpc>
                <a:spcPct val="118000"/>
              </a:lnSpc>
              <a:spcAft>
                <a:spcPts val="1100"/>
              </a:spcAft>
              <a:buSzPct val="100000"/>
              <a:buChar char="◆"/>
            </a:pPr>
            <a:r>
              <a:rPr lang="en-US" sz="15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 farms every 30 minutes.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5943600"/>
            <a:ext cx="6492240" cy="822960"/>
          </a:xfrm>
          <a:prstGeom prst="roundRect">
            <a:avLst>
              <a:gd name="adj" fmla="val 10000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59436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empty Palace second is lost forever.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S33 / 34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7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56616"/>
            <a:ext cx="420624" cy="420624"/>
          </a:xfrm>
          <a:prstGeom prst="diamond">
            <a:avLst/>
          </a:prstGeom>
          <a:solidFill>
            <a:srgbClr val="D8AC5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7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402336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plan, not a rule book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an example. Your rally capacity and your heroes decide the real ones.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400"/>
              </a:spcAft>
              <a:buSzPct val="100000"/>
              <a:buChar char="◆"/>
            </a:pPr>
            <a:r>
              <a:rPr lang="en-US" sz="145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split here is a suggestion. Your alliance knows its own players.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6492240" cy="2286000"/>
          </a:xfrm>
          <a:prstGeom prst="roundRect">
            <a:avLst>
              <a:gd name="adj" fmla="val 3600"/>
            </a:avLst>
          </a:prstGeom>
          <a:solidFill>
            <a:srgbClr val="291B11"/>
          </a:solidFill>
          <a:ln w="12700">
            <a:solidFill>
              <a:srgbClr val="D8AC5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749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9C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PARTS WORTH COPYING EXACTLY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58521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troop type per player</a:t>
            </a:r>
            <a:endParaRPr lang="en-US" sz="13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core joins first</a:t>
            </a:r>
            <a:endParaRPr lang="en-US" sz="13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Aeries</a:t>
            </a:r>
            <a:endParaRPr lang="en-US" sz="13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crystal officer</a:t>
            </a:r>
            <a:endParaRPr lang="en-US" sz="1300" dirty="0"/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E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attack a town without a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6172200"/>
            <a:ext cx="6492240" cy="914400"/>
          </a:xfrm>
          <a:prstGeom prst="roundRect">
            <a:avLst>
              <a:gd name="adj" fmla="val 9000"/>
            </a:avLst>
          </a:prstGeom>
          <a:solidFill>
            <a:srgbClr val="291B11"/>
          </a:solidFill>
          <a:ln w="12700">
            <a:solidFill>
              <a:srgbClr val="FF6A2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6172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9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changes to the server chat before Sunday, not during the battle.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8759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FLAMEDRAGON TYRANT · SERVER 745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32120" y="8759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A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S34 /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2026-08-20T11:00:46Z</dcterms:created>
  <dcterms:modified xsi:type="dcterms:W3CDTF">2026-08-20T11:00:46Z</dcterms:modified>
</cp:coreProperties>
</file>